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384" r:id="rId3"/>
    <p:sldId id="387" r:id="rId4"/>
    <p:sldId id="386" r:id="rId5"/>
    <p:sldId id="385" r:id="rId6"/>
    <p:sldId id="388" r:id="rId7"/>
    <p:sldId id="389" r:id="rId8"/>
    <p:sldId id="390" r:id="rId9"/>
    <p:sldId id="391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1C21"/>
    <a:srgbClr val="2F5597"/>
    <a:srgbClr val="6587C4"/>
    <a:srgbClr val="FF0000"/>
    <a:srgbClr val="A2A2A2"/>
    <a:srgbClr val="EBE9DC"/>
    <a:srgbClr val="540000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2365" autoAdjust="0"/>
  </p:normalViewPr>
  <p:slideViewPr>
    <p:cSldViewPr snapToGrid="0">
      <p:cViewPr varScale="1">
        <p:scale>
          <a:sx n="111" d="100"/>
          <a:sy n="111" d="100"/>
        </p:scale>
        <p:origin x="8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24575,'0'946'-1365,"0"-922"-5461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1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24575,'0'730'-1365,"0"-706"-5461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4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0,0 0 0,0 1 0,0-1 0,-1 1 0,1-1 0,0 1 0,0-1 0,-1 1 0,1-1 0,0 1 0,-1 0 0,1-1 0,-1 1 0,1 0 0,-1 0 0,1-1 0,-1 1 0,1 0 0,-1 0 0,0 0 0,1 0 0,-1-1 0,0 3 0,6 29 0,-4-23 0,27 318 45,-28 4-286,-3-156-928,2-152-5657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5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24575,'0'839'-1365,"0"-816"-5461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3.6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 0 24575,'1'1'0,"0"-1"0,1 0 0,-1 1 0,0 0 0,0-1 0,0 1 0,0 0 0,0-1 0,0 1 0,0 0 0,0 0 0,0 0 0,0 0 0,-1 0 0,1 0 0,0 0 0,-1 0 0,1 0 0,0 0 0,-1 1 0,1-1 0,-1 0 0,0 0 0,1 1 0,-1-1 0,0 0 0,0 2 0,5 42 0,-5-40 0,2 234 0,-3-122 0,-1-95 0,0 1 0,-11 41 0,3-12 0,-2 2 0,7-36 0,2 0 0,-4 28 0,1 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4.8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24575,'0'4'0,"0"7"0,0 10 0,0 11 0,0 9 0,0 2 0,0 4 0,0 2 0,0-3 0,0-4 0,0-4 0,0-5 0,0-3 0,0-2 0,0-1 0,0-1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5.6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24575,'0'5'0,"0"10"0,0 7 0,0 6 0,0 5 0,0 3 0,0 0 0,0-2 0,0-2 0,0-2 0,0 3 0,0 1 0,0 4 0,0-1 0,0-1 0,0-3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6.76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24575,'0'9'0,"0"7"0,0 7 0,0 2 0,0 8 0,0 6 0,0 11 0,0 2 0,0 0 0,5 1 0,1 1 0,-1-4 0,0-7 0,3-5 0,1-5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2.84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24575,'2710'0'0,"-2399"14"0,-35-1 0,-225-12 0,0 3 0,-1 1 0,0 3 0,83 23 0,-59-11-1365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4.43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651 1 24575,'-2'66'0,"-3"-1"0,-3 1 0,-2-1 0,-28 92 0,14-71 0,-107 338 0,60-254 0,34-87 0,-30 105 0,-66 317 0,118-409 0,14-74 0,-2-1 0,-1 0 0,0-1 0,-1 1 0,-16 37 0,8-28 0,1 1 0,2 0 0,1 1 0,2 0 0,0 0 0,-1 41 0,2 200 0,7-209 0,-1-1 0,2 61 0,-2-122 14,0-1 1,0 1-1,0-1 0,0 0 0,1 1 1,-1-1-1,0 0 0,1 1 0,-1-1 0,1 0 1,-1 1-1,1-1 0,0 0 0,-1 0 1,1 0-1,0 0 0,0 1 0,0-1 0,0 0 1,0-1-1,0 1 0,0 0 0,3 1 1,-2-1-137,0-1 0,0 1 0,1-1 0,-1 0 0,0 0 0,0 0 0,1 0 0,-1 0 0,0 0 1,0-1-1,1 1 0,-1-1 0,4-1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5.7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0 350 24575,'93'0'0,"228"-6"0,-258 1 0,0-2 0,-1-4 0,65-19 0,-87 20 0,1 2 0,49-3 0,30-5 0,-23-2 0,-34 8 0,110-33 0,-140 33 0,0 1 0,1 2 0,63-5 0,103 7 0,-57 4 0,-101-3 0,1-1 0,73-21 0,35-5 0,36 17 0,226 12 0,-222 5 0,518-3 0,-394-25 0,-154 7 0,-47 9-1365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6.81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601 1 24575,'-1'79'0,"-3"0"0,-3-1 0,-4 0 0,-3 0 0,-45 140 0,3-55 0,8 2 0,-31 186 0,-11 28 0,71-316 0,-108 338 0,115-358 0,-12 69 0,-2 11 0,2-22-1365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9.5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1215 24575,'1'-2'0,"0"0"0,0 0 0,0 1 0,1-1 0,-1 0 0,0 0 0,1 1 0,-1-1 0,1 1 0,-1-1 0,1 1 0,0-1 0,0 1 0,0 0 0,0 0 0,0 0 0,0 0 0,0 0 0,3 0 0,3-3 0,280-139 0,79-43 0,283-213 0,-589 355 0,-1-3 0,-3-2 0,-2-2 0,-2-3 0,-2-2 0,50-74 0,-83 108-1365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00.32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2296 24575,'4'-9'0,"0"0"0,1 1 0,-1 0 0,2 0 0,-1 0 0,1 1 0,9-10 0,-2 3 0,45-48 0,3 3 0,98-74 0,-121 102 0,144-107-155,223-127 0,216-84-388,-122 72 330,-395 216 213,152-118 0,-222 152 0,-2-2 0,-1-1 0,-1-1 0,-1-2 0,-2-1 0,-2-1 0,41-75 0,-29 33-199,-12 20 166,3 2-1,54-81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01.06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2017 24575,'1'-3'0,"0"0"0,0-1 0,1 1 0,-1 0 0,0 0 0,1 1 0,0-1 0,0 0 0,0 1 0,0-1 0,0 1 0,5-4 0,1-4 0,263-266 0,25 21 0,-113 100 0,812-659-1380,-904 744 1297,22-16-27,171-169 1,-237 199-976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01.80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23 820 24575,'-4'4'0,"-7"2"0,4-9 0,11-14 0,25-22 0,15-9 0,15-2 0,15-4 0,23-9 0,14 3 0,14-7 0,29-10 0,19-6 0,-10 1 0,-19 11 0,-30 8 0,-29 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36.1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28 24575,'106'2'0,"114"-4"0,-155-11 0,-49 9 0,1 0 0,20-1 0,165 3 164,-111 4-1693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各位老师、同学，大家好！这是我的硕士学位论文开题答辩，我的论文题目是：</a:t>
            </a:r>
            <a:r>
              <a:rPr lang="zh-CN" altLang="zh-CN" sz="1800" kern="100" dirty="0"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复杂环境下四旋翼多源传感器融合位姿估计研究</a:t>
            </a:r>
            <a:r>
              <a:rPr lang="zh-CN" altLang="en-US" dirty="0"/>
              <a:t>。我的指导教师是史志伟教授。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这是我的研究计划。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image" Target="../media/image29.png"/><Relationship Id="rId21" Type="http://schemas.openxmlformats.org/officeDocument/2006/relationships/customXml" Target="../ink/ink9.xml"/><Relationship Id="rId34" Type="http://schemas.openxmlformats.org/officeDocument/2006/relationships/image" Target="../media/image26.png"/><Relationship Id="rId7" Type="http://schemas.openxmlformats.org/officeDocument/2006/relationships/customXml" Target="../ink/ink2.xml"/><Relationship Id="rId12" Type="http://schemas.openxmlformats.org/officeDocument/2006/relationships/image" Target="../media/image15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8.png"/><Relationship Id="rId2" Type="http://schemas.openxmlformats.org/officeDocument/2006/relationships/image" Target="../media/image9.jpe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4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17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11.png"/><Relationship Id="rId9" Type="http://schemas.openxmlformats.org/officeDocument/2006/relationships/customXml" Target="../ink/ink3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2.xml"/><Relationship Id="rId30" Type="http://schemas.openxmlformats.org/officeDocument/2006/relationships/image" Target="../media/image24.png"/><Relationship Id="rId35" Type="http://schemas.openxmlformats.org/officeDocument/2006/relationships/customXml" Target="../ink/ink16.xml"/><Relationship Id="rId8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9391" y="17250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45036" y="434091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9137962" y="6077895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zh-CN" sz="2000" dirty="0">
              <a:solidFill>
                <a:srgbClr val="A2A2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347094" y="2060970"/>
            <a:ext cx="7479030" cy="162448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复杂环境下四旋翼多源传感器融合位姿估计研究</a:t>
            </a:r>
            <a:endParaRPr lang="zh-CN" altLang="zh-CN" sz="36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318110" y="355234"/>
            <a:ext cx="9224769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南京航空航天大学</a:t>
            </a:r>
            <a:r>
              <a:rPr lang="zh-CN" altLang="en-US" sz="20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Nanjing University of Aeronautics and Astronautics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55554" y="-37385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695304" y="271221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51"/>
            <a:ext cx="1203359" cy="1162947"/>
          </a:xfrm>
          <a:prstGeom prst="rect">
            <a:avLst/>
          </a:prstGeom>
        </p:spPr>
      </p:pic>
      <p:cxnSp>
        <p:nvCxnSpPr>
          <p:cNvPr id="21" name="直接连接符 20"/>
          <p:cNvCxnSpPr>
            <a:cxnSpLocks/>
          </p:cNvCxnSpPr>
          <p:nvPr/>
        </p:nvCxnSpPr>
        <p:spPr>
          <a:xfrm>
            <a:off x="1502789" y="4120056"/>
            <a:ext cx="9167640" cy="0"/>
          </a:xfrm>
          <a:prstGeom prst="line">
            <a:avLst/>
          </a:prstGeom>
          <a:ln w="28575"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FC41459-A09D-5DB8-C707-8401D3877338}"/>
              </a:ext>
            </a:extLst>
          </p:cNvPr>
          <p:cNvSpPr txBox="1"/>
          <p:nvPr/>
        </p:nvSpPr>
        <p:spPr>
          <a:xfrm>
            <a:off x="1767679" y="4453415"/>
            <a:ext cx="8775200" cy="162448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室内环境下四旋翼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多源传感器（视觉惯性）</a:t>
            </a:r>
            <a:r>
              <a:rPr lang="zh-CN" altLang="en-US" sz="36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融合定位导航研究</a:t>
            </a:r>
            <a:endParaRPr lang="zh-CN" altLang="zh-CN" sz="36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3061">
        <p14:prism isContent="1" isInverted="1"/>
      </p:transition>
    </mc:Choice>
    <mc:Fallback xmlns="">
      <p:transition spd="slow" advTm="1306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altLang="zh-CN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591014" y="257719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论文大纲</a:t>
            </a:r>
          </a:p>
        </p:txBody>
      </p:sp>
      <p:sp>
        <p:nvSpPr>
          <p:cNvPr id="46" name="矩形 45"/>
          <p:cNvSpPr/>
          <p:nvPr/>
        </p:nvSpPr>
        <p:spPr>
          <a:xfrm>
            <a:off x="2492115" y="305614"/>
            <a:ext cx="2035036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 PIPELINE</a:t>
            </a:r>
          </a:p>
        </p:txBody>
      </p:sp>
      <p:grpSp>
        <p:nvGrpSpPr>
          <p:cNvPr id="42" name="组 41"/>
          <p:cNvGrpSpPr/>
          <p:nvPr/>
        </p:nvGrpSpPr>
        <p:grpSpPr>
          <a:xfrm>
            <a:off x="9284095" y="252857"/>
            <a:ext cx="2907903" cy="484288"/>
            <a:chOff x="9284094" y="252856"/>
            <a:chExt cx="2907903" cy="484288"/>
          </a:xfrm>
        </p:grpSpPr>
        <p:grpSp>
          <p:nvGrpSpPr>
            <p:cNvPr id="43" name="组 42"/>
            <p:cNvGrpSpPr/>
            <p:nvPr/>
          </p:nvGrpSpPr>
          <p:grpSpPr>
            <a:xfrm>
              <a:off x="11454105" y="252856"/>
              <a:ext cx="737892" cy="484288"/>
              <a:chOff x="11454105" y="252856"/>
              <a:chExt cx="737892" cy="484288"/>
            </a:xfrm>
          </p:grpSpPr>
          <p:grpSp>
            <p:nvGrpSpPr>
              <p:cNvPr id="50" name="组 49"/>
              <p:cNvGrpSpPr/>
              <p:nvPr/>
            </p:nvGrpSpPr>
            <p:grpSpPr>
              <a:xfrm>
                <a:off x="12039604" y="252856"/>
                <a:ext cx="152393" cy="484287"/>
                <a:chOff x="12039604" y="252856"/>
                <a:chExt cx="152393" cy="484287"/>
              </a:xfrm>
            </p:grpSpPr>
            <p:sp>
              <p:nvSpPr>
                <p:cNvPr id="54" name="圆角矩形 53"/>
                <p:cNvSpPr/>
                <p:nvPr/>
              </p:nvSpPr>
              <p:spPr>
                <a:xfrm rot="16200000" flipV="1">
                  <a:off x="12072988" y="518121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4472C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圆角矩形 54"/>
                <p:cNvSpPr/>
                <p:nvPr/>
              </p:nvSpPr>
              <p:spPr>
                <a:xfrm rot="16200000" flipV="1">
                  <a:off x="12072988" y="618134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F5597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圆角矩形 70"/>
                <p:cNvSpPr/>
                <p:nvPr/>
              </p:nvSpPr>
              <p:spPr>
                <a:xfrm rot="16200000" flipV="1">
                  <a:off x="12072988" y="321750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4472C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圆角矩形 71"/>
                <p:cNvSpPr/>
                <p:nvPr/>
              </p:nvSpPr>
              <p:spPr>
                <a:xfrm rot="16200000" flipV="1">
                  <a:off x="12072988" y="42176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F5597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圆角矩形 72"/>
                <p:cNvSpPr/>
                <p:nvPr/>
              </p:nvSpPr>
              <p:spPr>
                <a:xfrm rot="16200000" flipV="1">
                  <a:off x="12072987" y="21947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F5597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1" name="组合 99"/>
              <p:cNvGrpSpPr/>
              <p:nvPr/>
            </p:nvGrpSpPr>
            <p:grpSpPr>
              <a:xfrm>
                <a:off x="11454105" y="252857"/>
                <a:ext cx="491115" cy="484287"/>
                <a:chOff x="1528923" y="220268"/>
                <a:chExt cx="1284096" cy="1266241"/>
              </a:xfrm>
            </p:grpSpPr>
            <p:sp>
              <p:nvSpPr>
                <p:cNvPr id="52" name="圆角矩形 51"/>
                <p:cNvSpPr/>
                <p:nvPr/>
              </p:nvSpPr>
              <p:spPr>
                <a:xfrm rot="16200000" flipV="1">
                  <a:off x="1537850" y="211341"/>
                  <a:ext cx="1266241" cy="1284096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Freeform 96"/>
                <p:cNvSpPr/>
                <p:nvPr/>
              </p:nvSpPr>
              <p:spPr bwMode="auto">
                <a:xfrm>
                  <a:off x="1804148" y="499514"/>
                  <a:ext cx="733647" cy="707752"/>
                </a:xfrm>
                <a:custGeom>
                  <a:avLst/>
                  <a:gdLst>
                    <a:gd name="T0" fmla="*/ 184 w 216"/>
                    <a:gd name="T1" fmla="*/ 0 h 208"/>
                    <a:gd name="T2" fmla="*/ 152 w 216"/>
                    <a:gd name="T3" fmla="*/ 32 h 208"/>
                    <a:gd name="T4" fmla="*/ 154 w 216"/>
                    <a:gd name="T5" fmla="*/ 41 h 208"/>
                    <a:gd name="T6" fmla="*/ 60 w 216"/>
                    <a:gd name="T7" fmla="*/ 80 h 208"/>
                    <a:gd name="T8" fmla="*/ 32 w 216"/>
                    <a:gd name="T9" fmla="*/ 64 h 208"/>
                    <a:gd name="T10" fmla="*/ 0 w 216"/>
                    <a:gd name="T11" fmla="*/ 96 h 208"/>
                    <a:gd name="T12" fmla="*/ 32 w 216"/>
                    <a:gd name="T13" fmla="*/ 128 h 208"/>
                    <a:gd name="T14" fmla="*/ 56 w 216"/>
                    <a:gd name="T15" fmla="*/ 118 h 208"/>
                    <a:gd name="T16" fmla="*/ 116 w 216"/>
                    <a:gd name="T17" fmla="*/ 161 h 208"/>
                    <a:gd name="T18" fmla="*/ 112 w 216"/>
                    <a:gd name="T19" fmla="*/ 176 h 208"/>
                    <a:gd name="T20" fmla="*/ 144 w 216"/>
                    <a:gd name="T21" fmla="*/ 208 h 208"/>
                    <a:gd name="T22" fmla="*/ 176 w 216"/>
                    <a:gd name="T23" fmla="*/ 176 h 208"/>
                    <a:gd name="T24" fmla="*/ 144 w 216"/>
                    <a:gd name="T25" fmla="*/ 144 h 208"/>
                    <a:gd name="T26" fmla="*/ 121 w 216"/>
                    <a:gd name="T27" fmla="*/ 154 h 208"/>
                    <a:gd name="T28" fmla="*/ 61 w 216"/>
                    <a:gd name="T29" fmla="*/ 111 h 208"/>
                    <a:gd name="T30" fmla="*/ 64 w 216"/>
                    <a:gd name="T31" fmla="*/ 96 h 208"/>
                    <a:gd name="T32" fmla="*/ 63 w 216"/>
                    <a:gd name="T33" fmla="*/ 87 h 208"/>
                    <a:gd name="T34" fmla="*/ 157 w 216"/>
                    <a:gd name="T35" fmla="*/ 48 h 208"/>
                    <a:gd name="T36" fmla="*/ 184 w 216"/>
                    <a:gd name="T37" fmla="*/ 64 h 208"/>
                    <a:gd name="T38" fmla="*/ 216 w 216"/>
                    <a:gd name="T39" fmla="*/ 32 h 208"/>
                    <a:gd name="T40" fmla="*/ 184 w 216"/>
                    <a:gd name="T41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6" h="208">
                      <a:moveTo>
                        <a:pt x="184" y="0"/>
                      </a:moveTo>
                      <a:cubicBezTo>
                        <a:pt x="167" y="0"/>
                        <a:pt x="152" y="14"/>
                        <a:pt x="152" y="32"/>
                      </a:cubicBezTo>
                      <a:cubicBezTo>
                        <a:pt x="152" y="35"/>
                        <a:pt x="153" y="38"/>
                        <a:pt x="154" y="41"/>
                      </a:cubicBezTo>
                      <a:cubicBezTo>
                        <a:pt x="60" y="80"/>
                        <a:pt x="60" y="80"/>
                        <a:pt x="60" y="80"/>
                      </a:cubicBezTo>
                      <a:cubicBezTo>
                        <a:pt x="55" y="70"/>
                        <a:pt x="44" y="64"/>
                        <a:pt x="32" y="64"/>
                      </a:cubicBezTo>
                      <a:cubicBezTo>
                        <a:pt x="15" y="64"/>
                        <a:pt x="0" y="78"/>
                        <a:pt x="0" y="96"/>
                      </a:cubicBezTo>
                      <a:cubicBezTo>
                        <a:pt x="0" y="113"/>
                        <a:pt x="15" y="128"/>
                        <a:pt x="32" y="128"/>
                      </a:cubicBezTo>
                      <a:cubicBezTo>
                        <a:pt x="42" y="128"/>
                        <a:pt x="50" y="124"/>
                        <a:pt x="56" y="118"/>
                      </a:cubicBezTo>
                      <a:cubicBezTo>
                        <a:pt x="116" y="161"/>
                        <a:pt x="116" y="161"/>
                        <a:pt x="116" y="161"/>
                      </a:cubicBezTo>
                      <a:cubicBezTo>
                        <a:pt x="114" y="165"/>
                        <a:pt x="112" y="170"/>
                        <a:pt x="112" y="176"/>
                      </a:cubicBezTo>
                      <a:cubicBezTo>
                        <a:pt x="112" y="193"/>
                        <a:pt x="127" y="208"/>
                        <a:pt x="144" y="208"/>
                      </a:cubicBezTo>
                      <a:cubicBezTo>
                        <a:pt x="162" y="208"/>
                        <a:pt x="176" y="193"/>
                        <a:pt x="176" y="176"/>
                      </a:cubicBezTo>
                      <a:cubicBezTo>
                        <a:pt x="176" y="158"/>
                        <a:pt x="162" y="144"/>
                        <a:pt x="144" y="144"/>
                      </a:cubicBezTo>
                      <a:cubicBezTo>
                        <a:pt x="135" y="144"/>
                        <a:pt x="127" y="148"/>
                        <a:pt x="121" y="154"/>
                      </a:cubicBezTo>
                      <a:cubicBezTo>
                        <a:pt x="61" y="111"/>
                        <a:pt x="61" y="111"/>
                        <a:pt x="61" y="111"/>
                      </a:cubicBezTo>
                      <a:cubicBezTo>
                        <a:pt x="63" y="107"/>
                        <a:pt x="64" y="101"/>
                        <a:pt x="64" y="96"/>
                      </a:cubicBezTo>
                      <a:cubicBezTo>
                        <a:pt x="64" y="93"/>
                        <a:pt x="64" y="90"/>
                        <a:pt x="63" y="87"/>
                      </a:cubicBezTo>
                      <a:cubicBezTo>
                        <a:pt x="157" y="48"/>
                        <a:pt x="157" y="48"/>
                        <a:pt x="157" y="48"/>
                      </a:cubicBezTo>
                      <a:cubicBezTo>
                        <a:pt x="162" y="57"/>
                        <a:pt x="173" y="64"/>
                        <a:pt x="184" y="64"/>
                      </a:cubicBezTo>
                      <a:cubicBezTo>
                        <a:pt x="202" y="64"/>
                        <a:pt x="216" y="49"/>
                        <a:pt x="216" y="32"/>
                      </a:cubicBezTo>
                      <a:cubicBezTo>
                        <a:pt x="216" y="14"/>
                        <a:pt x="20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rgbClr val="AD1C21"/>
                    </a:solidFill>
                  </a:endParaRPr>
                </a:p>
              </p:txBody>
            </p:sp>
          </p:grpSp>
        </p:grpSp>
        <p:sp>
          <p:nvSpPr>
            <p:cNvPr id="49" name="文本框 48"/>
            <p:cNvSpPr txBox="1"/>
            <p:nvPr/>
          </p:nvSpPr>
          <p:spPr>
            <a:xfrm>
              <a:off x="9284094" y="326966"/>
              <a:ext cx="2170011" cy="32316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r"/>
              <a:r>
                <a:rPr lang="zh-CN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  <a:cs typeface="Segoe UI Semilight" panose="020B0402040204020203" pitchFamily="34" charset="0"/>
                </a:rPr>
                <a:t>南京航空航天大学</a:t>
              </a:r>
            </a:p>
          </p:txBody>
        </p:sp>
      </p:grp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337821" y="1070902"/>
            <a:ext cx="5773317" cy="2224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二、基于</a:t>
            </a:r>
            <a:r>
              <a:rPr lang="en-US" altLang="zh-CN" sz="1800" dirty="0">
                <a:sym typeface="+mn-ea"/>
              </a:rPr>
              <a:t>VIO</a:t>
            </a:r>
            <a:r>
              <a:rPr lang="zh-CN" altLang="en-US" sz="1800" dirty="0">
                <a:sym typeface="+mn-ea"/>
              </a:rPr>
              <a:t>的典型四旋翼定位方法对比分析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2.1 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EKF</a:t>
            </a:r>
            <a:r>
              <a:rPr lang="zh-CN" altLang="en-US" sz="1800" dirty="0">
                <a:sym typeface="+mn-ea"/>
              </a:rPr>
              <a:t>的松耦合和紧耦合</a:t>
            </a:r>
            <a:r>
              <a:rPr lang="en-US" altLang="zh-CN" sz="1800" dirty="0">
                <a:sym typeface="+mn-ea"/>
              </a:rPr>
              <a:t>VIO	</a:t>
            </a: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2.2 </a:t>
            </a:r>
            <a:r>
              <a:rPr lang="zh-CN" altLang="en-US" sz="1800" dirty="0">
                <a:sym typeface="+mn-ea"/>
              </a:rPr>
              <a:t>基于因子图优化的紧耦合</a:t>
            </a:r>
            <a:r>
              <a:rPr lang="en-US" altLang="zh-CN" sz="1800" dirty="0">
                <a:sym typeface="+mn-ea"/>
              </a:rPr>
              <a:t>VIO</a:t>
            </a: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2.3 </a:t>
            </a:r>
            <a:r>
              <a:rPr lang="zh-CN" altLang="en-US" sz="1800" dirty="0">
                <a:sym typeface="+mn-ea"/>
              </a:rPr>
              <a:t>视觉短时失效下典型</a:t>
            </a:r>
            <a:r>
              <a:rPr lang="en-US" altLang="zh-CN" sz="1800" dirty="0">
                <a:sym typeface="+mn-ea"/>
              </a:rPr>
              <a:t>VIO</a:t>
            </a:r>
            <a:r>
              <a:rPr lang="zh-CN" altLang="en-US" sz="1800" dirty="0">
                <a:sym typeface="+mn-ea"/>
              </a:rPr>
              <a:t>的定位结果分析</a:t>
            </a:r>
            <a:endParaRPr lang="en-US" altLang="zh-CN" sz="1800" dirty="0"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5943600" y="631507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r"/>
            <a:fld id="{0D21F65D-4E0E-4CB1-9506-915C84E5AE0F}" type="slidenum">
              <a:rPr lang="zh-CN" altLang="en-US" sz="160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fld>
            <a:endParaRPr lang="zh-CN" altLang="en-US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2E5973-3CCB-21D0-DB27-5BCFFE4CD2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7821" y="3664301"/>
            <a:ext cx="5493541" cy="2224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三、基于深度学习和</a:t>
            </a:r>
            <a:r>
              <a:rPr lang="en-US" altLang="zh-CN" sz="1800" dirty="0">
                <a:sym typeface="+mn-ea"/>
              </a:rPr>
              <a:t>IMU</a:t>
            </a:r>
            <a:r>
              <a:rPr lang="zh-CN" altLang="en-US" sz="1800" dirty="0">
                <a:sym typeface="+mn-ea"/>
              </a:rPr>
              <a:t>的四旋翼短时位姿预测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3.1 </a:t>
            </a:r>
            <a:r>
              <a:rPr lang="zh-CN" altLang="en-US" sz="1800" dirty="0">
                <a:sym typeface="+mn-ea"/>
              </a:rPr>
              <a:t>四旋翼视觉惯性位姿估计可观测性分析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3.2</a:t>
            </a:r>
            <a:r>
              <a:rPr lang="zh-CN" altLang="en-US" sz="1800" dirty="0">
                <a:sym typeface="+mn-ea"/>
              </a:rPr>
              <a:t> 仿真数据集及神经网络模型</a:t>
            </a:r>
            <a:endParaRPr lang="en-US" altLang="zh-CN" sz="18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800" dirty="0">
                <a:sym typeface="+mn-ea"/>
              </a:rPr>
              <a:t>	3.3 </a:t>
            </a:r>
            <a:r>
              <a:rPr lang="zh-CN" altLang="en-US" sz="1800" dirty="0">
                <a:sym typeface="+mn-ea"/>
              </a:rPr>
              <a:t>四旋翼短时位姿预测及精度评估</a:t>
            </a:r>
            <a:endParaRPr lang="en-US" altLang="zh-CN" sz="1800" dirty="0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C5A40-5833-FAA8-5BC9-7D184E60C52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51940" y="1077507"/>
            <a:ext cx="5479319" cy="222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四、四旋翼轨迹规划与跟踪控制研究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4.1 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EGO-PLANNER</a:t>
            </a:r>
            <a:r>
              <a:rPr lang="zh-CN" altLang="en-US" sz="1800" dirty="0">
                <a:sym typeface="+mn-ea"/>
              </a:rPr>
              <a:t>的轨迹规划算法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4.2 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PID </a:t>
            </a:r>
            <a:r>
              <a:rPr lang="zh-CN" altLang="en-US" sz="1800" dirty="0">
                <a:sym typeface="+mn-ea"/>
              </a:rPr>
              <a:t>的轨迹跟踪控制方法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4.3</a:t>
            </a:r>
            <a:r>
              <a:rPr lang="zh-CN" altLang="en-US" sz="1800" dirty="0">
                <a:sym typeface="+mn-ea"/>
              </a:rPr>
              <a:t> 基于微分平坦的轨迹跟踪控制方法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B14B35-82D9-23DB-567D-90A9A88E85B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51940" y="3667314"/>
            <a:ext cx="6037041" cy="222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五、视觉短时失效下四旋翼定位导航仿真与实验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5.1 </a:t>
            </a:r>
            <a:r>
              <a:rPr lang="zh-CN" altLang="en-US" sz="1800" dirty="0">
                <a:sym typeface="+mn-ea"/>
              </a:rPr>
              <a:t>仿真环境与实验设备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5.2</a:t>
            </a:r>
            <a:r>
              <a:rPr lang="zh-CN" altLang="en-US" sz="1800" dirty="0">
                <a:sym typeface="+mn-ea"/>
              </a:rPr>
              <a:t> 四旋翼轨迹规划与跟踪控制仿真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5.3 </a:t>
            </a:r>
            <a:r>
              <a:rPr lang="zh-CN" altLang="en-US" sz="1800" dirty="0">
                <a:sym typeface="+mn-ea"/>
              </a:rPr>
              <a:t>四旋翼轨迹规划与跟踪控制实验验证</a:t>
            </a:r>
          </a:p>
        </p:txBody>
      </p:sp>
    </p:spTree>
  </p:cSld>
  <p:clrMapOvr>
    <a:masterClrMapping/>
  </p:clrMapOvr>
  <p:transition spd="slow" advTm="71987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8EEF-6E50-57D9-B8C1-7E1C8E84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6E42BD7-1AB5-2BCF-D1EC-478BEB538C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3" y="1"/>
            <a:ext cx="5760000" cy="34280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E395A9-0452-20C7-3C06-89701A809D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357" y="984"/>
            <a:ext cx="5760000" cy="34280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3CDDD55-4C13-847B-04C9-5DDCFFA2F9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3" y="3429984"/>
            <a:ext cx="5760000" cy="34280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EA315A-2B29-19A7-054C-EF22443C31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357" y="3429984"/>
            <a:ext cx="5760000" cy="34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CD67FBF-35E6-BCF1-4EF6-2D8AF2A486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14799" cy="3638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E4285E-A0C9-9E36-FA67-BE390B462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268" y="0"/>
            <a:ext cx="4597940" cy="35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9B2D186-DE3D-852B-4865-4E449383E7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26" y="164520"/>
            <a:ext cx="4844903" cy="3633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A4ACDC-3685-8494-646E-FEFA6C43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40" y="111189"/>
            <a:ext cx="3540826" cy="205471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720967B-CB02-1B4E-37D7-30B8BF5B1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385" y="2413102"/>
            <a:ext cx="3283581" cy="179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D1545E1-0AE0-47C0-8CEF-F1F31019E7CD}"/>
                  </a:ext>
                </a:extLst>
              </p14:cNvPr>
              <p14:cNvContentPartPr/>
              <p14:nvPr/>
            </p14:nvContentPartPr>
            <p14:xfrm>
              <a:off x="2732783" y="1614646"/>
              <a:ext cx="360" cy="3492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D1545E1-0AE0-47C0-8CEF-F1F31019E7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4143" y="1605646"/>
                <a:ext cx="180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4AB40BB-3351-E05C-4672-8491C1DF3A12}"/>
                  </a:ext>
                </a:extLst>
              </p14:cNvPr>
              <p14:cNvContentPartPr/>
              <p14:nvPr/>
            </p14:nvContentPartPr>
            <p14:xfrm>
              <a:off x="3579503" y="1653166"/>
              <a:ext cx="360" cy="2718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4AB40BB-3351-E05C-4672-8491C1DF3A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70503" y="1644526"/>
                <a:ext cx="180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D88857AD-EEA6-B578-46A3-237A1F7A8D1A}"/>
                  </a:ext>
                </a:extLst>
              </p14:cNvPr>
              <p14:cNvContentPartPr/>
              <p14:nvPr/>
            </p14:nvContentPartPr>
            <p14:xfrm>
              <a:off x="2694263" y="982126"/>
              <a:ext cx="20160" cy="3297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D88857AD-EEA6-B578-46A3-237A1F7A8D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85623" y="973486"/>
                <a:ext cx="378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6DD816E1-6078-DC9C-9FE5-39529086085A}"/>
                  </a:ext>
                </a:extLst>
              </p14:cNvPr>
              <p14:cNvContentPartPr/>
              <p14:nvPr/>
            </p14:nvContentPartPr>
            <p14:xfrm>
              <a:off x="3521183" y="1001566"/>
              <a:ext cx="360" cy="31068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6DD816E1-6078-DC9C-9FE5-3952908608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12183" y="992566"/>
                <a:ext cx="1800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FC44E1A3-7FA7-1F33-0E07-89B1432EAC79}"/>
                  </a:ext>
                </a:extLst>
              </p14:cNvPr>
              <p14:cNvContentPartPr/>
              <p14:nvPr/>
            </p14:nvContentPartPr>
            <p14:xfrm>
              <a:off x="2711543" y="1031086"/>
              <a:ext cx="22320" cy="28224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FC44E1A3-7FA7-1F33-0E07-89B1432EAC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48543" y="968086"/>
                <a:ext cx="1479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87EADDA-E8D7-44ED-0556-169D9BC6E277}"/>
                  </a:ext>
                </a:extLst>
              </p14:cNvPr>
              <p14:cNvContentPartPr/>
              <p14:nvPr/>
            </p14:nvContentPartPr>
            <p14:xfrm>
              <a:off x="3521183" y="1040446"/>
              <a:ext cx="360" cy="19620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87EADDA-E8D7-44ED-0556-169D9BC6E27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58183" y="977806"/>
                <a:ext cx="126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A86F837E-16D2-6567-CB6A-3471AF4C20A6}"/>
                  </a:ext>
                </a:extLst>
              </p14:cNvPr>
              <p14:cNvContentPartPr/>
              <p14:nvPr/>
            </p14:nvContentPartPr>
            <p14:xfrm>
              <a:off x="3598583" y="1634086"/>
              <a:ext cx="360" cy="1850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A86F837E-16D2-6567-CB6A-3471AF4C20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5943" y="1571086"/>
                <a:ext cx="1260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1363A77-F8A9-4342-12CE-1FA040DF47B7}"/>
                  </a:ext>
                </a:extLst>
              </p14:cNvPr>
              <p14:cNvContentPartPr/>
              <p14:nvPr/>
            </p14:nvContentPartPr>
            <p14:xfrm>
              <a:off x="2723423" y="1672966"/>
              <a:ext cx="14040" cy="2059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1363A77-F8A9-4342-12CE-1FA040DF47B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60423" y="1610326"/>
                <a:ext cx="139680" cy="33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64DAE-DFB4-2A79-1B82-0B57734E8274}"/>
              </a:ext>
            </a:extLst>
          </p:cNvPr>
          <p:cNvGrpSpPr/>
          <p:nvPr/>
        </p:nvGrpSpPr>
        <p:grpSpPr>
          <a:xfrm>
            <a:off x="2178023" y="738766"/>
            <a:ext cx="1849320" cy="1180080"/>
            <a:chOff x="2294755" y="2343830"/>
            <a:chExt cx="1849320" cy="11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235E179-CCC7-7F46-9D5F-618C2E420754}"/>
                    </a:ext>
                  </a:extLst>
                </p14:cNvPr>
                <p14:cNvContentPartPr/>
                <p14:nvPr/>
              </p14:nvContentPartPr>
              <p14:xfrm>
                <a:off x="2567995" y="2382710"/>
                <a:ext cx="1334520" cy="3492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235E179-CCC7-7F46-9D5F-618C2E4207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04995" y="2320070"/>
                  <a:ext cx="1460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16BFB5B3-7F62-81B3-D580-1FA1C86D6B6C}"/>
                    </a:ext>
                  </a:extLst>
                </p14:cNvPr>
                <p14:cNvContentPartPr/>
                <p14:nvPr/>
              </p14:nvContentPartPr>
              <p14:xfrm>
                <a:off x="2294755" y="2460830"/>
                <a:ext cx="234360" cy="106308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16BFB5B3-7F62-81B3-D580-1FA1C86D6B6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31755" y="2398190"/>
                  <a:ext cx="3600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F64F784E-1919-FBB9-DE32-F6460704AC88}"/>
                    </a:ext>
                  </a:extLst>
                </p14:cNvPr>
                <p14:cNvContentPartPr/>
                <p14:nvPr/>
              </p14:nvContentPartPr>
              <p14:xfrm>
                <a:off x="2373235" y="3395390"/>
                <a:ext cx="1560960" cy="126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F64F784E-1919-FBB9-DE32-F6460704AC8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10235" y="3332390"/>
                  <a:ext cx="1686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81906A07-8223-CA11-4B12-17EC7266D88C}"/>
                    </a:ext>
                  </a:extLst>
                </p14:cNvPr>
                <p14:cNvContentPartPr/>
                <p14:nvPr/>
              </p14:nvContentPartPr>
              <p14:xfrm>
                <a:off x="3927715" y="2372990"/>
                <a:ext cx="216360" cy="90432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81906A07-8223-CA11-4B12-17EC7266D88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64715" y="2310350"/>
                  <a:ext cx="342000" cy="10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FD1F4F1-E327-39C8-5CCA-3BA7DAD07FE3}"/>
                    </a:ext>
                  </a:extLst>
                </p14:cNvPr>
                <p14:cNvContentPartPr/>
                <p14:nvPr/>
              </p14:nvContentPartPr>
              <p14:xfrm>
                <a:off x="2431555" y="2383430"/>
                <a:ext cx="649800" cy="43740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FD1F4F1-E327-39C8-5CCA-3BA7DAD07FE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68555" y="2320790"/>
                  <a:ext cx="7754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2EE35CAC-8EA8-06D1-22CA-693450C0DDBC}"/>
                    </a:ext>
                  </a:extLst>
                </p14:cNvPr>
                <p14:cNvContentPartPr/>
                <p14:nvPr/>
              </p14:nvContentPartPr>
              <p14:xfrm>
                <a:off x="2509675" y="2373710"/>
                <a:ext cx="1041120" cy="82656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2EE35CAC-8EA8-06D1-22CA-693450C0DDB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46675" y="2310710"/>
                  <a:ext cx="116676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70FA3D9-66F5-769D-125C-67A2C2405837}"/>
                    </a:ext>
                  </a:extLst>
                </p14:cNvPr>
                <p14:cNvContentPartPr/>
                <p14:nvPr/>
              </p14:nvContentPartPr>
              <p14:xfrm>
                <a:off x="3083155" y="2522750"/>
                <a:ext cx="833400" cy="72648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70FA3D9-66F5-769D-125C-67A2C240583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20155" y="2459750"/>
                  <a:ext cx="95904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3F9AA290-1F17-ED0D-3793-08AF1CF145B3}"/>
                    </a:ext>
                  </a:extLst>
                </p14:cNvPr>
                <p14:cNvContentPartPr/>
                <p14:nvPr/>
              </p14:nvContentPartPr>
              <p14:xfrm>
                <a:off x="3561595" y="2983190"/>
                <a:ext cx="496080" cy="29916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3F9AA290-1F17-ED0D-3793-08AF1CF145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98955" y="2920190"/>
                  <a:ext cx="6217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EF1412D-6E26-303A-16B3-ED63160D12CD}"/>
                    </a:ext>
                  </a:extLst>
                </p14:cNvPr>
                <p14:cNvContentPartPr/>
                <p14:nvPr/>
              </p14:nvContentPartPr>
              <p14:xfrm>
                <a:off x="3852115" y="2343830"/>
                <a:ext cx="271800" cy="1116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EF1412D-6E26-303A-16B3-ED63160D12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89115" y="2280830"/>
                  <a:ext cx="397440" cy="136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C923C36B-4E04-878B-54B2-2B97CE17CDB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05385" y="4184518"/>
            <a:ext cx="3283581" cy="2562293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159FAA0-E6A8-19B0-90AB-846C5B12272F}"/>
              </a:ext>
            </a:extLst>
          </p:cNvPr>
          <p:cNvSpPr txBox="1"/>
          <p:nvPr/>
        </p:nvSpPr>
        <p:spPr>
          <a:xfrm>
            <a:off x="10343709" y="908111"/>
            <a:ext cx="1548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ym typeface="+mn-ea"/>
              </a:rPr>
              <a:t>INTER NUC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462F1CF-2059-87F8-E447-4412170F7714}"/>
              </a:ext>
            </a:extLst>
          </p:cNvPr>
          <p:cNvSpPr txBox="1"/>
          <p:nvPr/>
        </p:nvSpPr>
        <p:spPr>
          <a:xfrm>
            <a:off x="10343710" y="2913587"/>
            <a:ext cx="154810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RealSense D435i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2834C6-5CE9-3F2D-0A5E-3736A04DAEA5}"/>
              </a:ext>
            </a:extLst>
          </p:cNvPr>
          <p:cNvSpPr txBox="1"/>
          <p:nvPr/>
        </p:nvSpPr>
        <p:spPr>
          <a:xfrm>
            <a:off x="10343710" y="5212315"/>
            <a:ext cx="1548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ym typeface="+mn-ea"/>
              </a:rPr>
              <a:t>Pix mini 6C</a:t>
            </a:r>
            <a:endParaRPr lang="zh-CN" altLang="en-US" dirty="0"/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FDA52EC5-076B-D363-2542-478EB163F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810729"/>
              </p:ext>
            </p:extLst>
          </p:nvPr>
        </p:nvGraphicFramePr>
        <p:xfrm>
          <a:off x="173880" y="4258638"/>
          <a:ext cx="6085994" cy="2329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666">
                  <a:extLst>
                    <a:ext uri="{9D8B030D-6E8A-4147-A177-3AD203B41FA5}">
                      <a16:colId xmlns:a16="http://schemas.microsoft.com/office/drawing/2014/main" val="2562133409"/>
                    </a:ext>
                  </a:extLst>
                </a:gridCol>
                <a:gridCol w="2636196">
                  <a:extLst>
                    <a:ext uri="{9D8B030D-6E8A-4147-A177-3AD203B41FA5}">
                      <a16:colId xmlns:a16="http://schemas.microsoft.com/office/drawing/2014/main" val="3234487412"/>
                    </a:ext>
                  </a:extLst>
                </a:gridCol>
                <a:gridCol w="1932132">
                  <a:extLst>
                    <a:ext uri="{9D8B030D-6E8A-4147-A177-3AD203B41FA5}">
                      <a16:colId xmlns:a16="http://schemas.microsoft.com/office/drawing/2014/main" val="2892348999"/>
                    </a:ext>
                  </a:extLst>
                </a:gridCol>
              </a:tblGrid>
              <a:tr h="40658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型号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单价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668586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机载电脑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ym typeface="+mn-ea"/>
                        </a:rPr>
                        <a:t>INTER NUC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2899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18677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双目相机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RealSense D435i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330256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飞控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ym typeface="+mn-ea"/>
                        </a:rPr>
                        <a:t>Pix mini 6C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699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70683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三星 </a:t>
                      </a:r>
                      <a:r>
                        <a:rPr lang="en-US" altLang="zh-CN" dirty="0"/>
                        <a:t>DDR4 16G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614501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固态硬盘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500G M.2</a:t>
                      </a:r>
                      <a:r>
                        <a:rPr lang="zh-CN" altLang="en-US" dirty="0"/>
                        <a:t>固态硬盘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207079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51F2DB0-51FB-324B-99CA-5A7A5057358E}"/>
              </a:ext>
            </a:extLst>
          </p:cNvPr>
          <p:cNvSpPr txBox="1"/>
          <p:nvPr/>
        </p:nvSpPr>
        <p:spPr>
          <a:xfrm>
            <a:off x="6373167" y="6217347"/>
            <a:ext cx="832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6519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3565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E4FE42-521E-0BFE-B73E-E2BDEB9DBD5E}"/>
              </a:ext>
            </a:extLst>
          </p:cNvPr>
          <p:cNvSpPr/>
          <p:nvPr/>
        </p:nvSpPr>
        <p:spPr>
          <a:xfrm>
            <a:off x="3399865" y="1256208"/>
            <a:ext cx="5233147" cy="404865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9C785C-4DD2-A1D7-4A70-8E94D0AF1A5D}"/>
              </a:ext>
            </a:extLst>
          </p:cNvPr>
          <p:cNvSpPr txBox="1"/>
          <p:nvPr/>
        </p:nvSpPr>
        <p:spPr>
          <a:xfrm>
            <a:off x="3615018" y="1309313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ROS</a:t>
            </a:r>
            <a:endParaRPr lang="zh-CN" altLang="en-US" sz="2000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DB4AFE7-1B92-0E90-F630-67AFC6A88B1E}"/>
              </a:ext>
            </a:extLst>
          </p:cNvPr>
          <p:cNvSpPr/>
          <p:nvPr/>
        </p:nvSpPr>
        <p:spPr>
          <a:xfrm>
            <a:off x="3715871" y="1750270"/>
            <a:ext cx="1689846" cy="1467534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19DC254-FA8C-510A-45F4-40DCA9E0F755}"/>
              </a:ext>
            </a:extLst>
          </p:cNvPr>
          <p:cNvSpPr/>
          <p:nvPr/>
        </p:nvSpPr>
        <p:spPr>
          <a:xfrm>
            <a:off x="3957918" y="22676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Image_data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2EBBC1E-513C-A2B9-FF2B-06AB886E4D11}"/>
              </a:ext>
            </a:extLst>
          </p:cNvPr>
          <p:cNvSpPr/>
          <p:nvPr/>
        </p:nvSpPr>
        <p:spPr>
          <a:xfrm>
            <a:off x="3957918" y="2784934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IMU_data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B336D74-36DB-5F58-704D-33EC5C7E058C}"/>
              </a:ext>
            </a:extLst>
          </p:cNvPr>
          <p:cNvSpPr/>
          <p:nvPr/>
        </p:nvSpPr>
        <p:spPr>
          <a:xfrm>
            <a:off x="6604747" y="1750270"/>
            <a:ext cx="1689846" cy="1467534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F29553-B66F-4AEB-7D4C-18BB978F9828}"/>
              </a:ext>
            </a:extLst>
          </p:cNvPr>
          <p:cNvSpPr/>
          <p:nvPr/>
        </p:nvSpPr>
        <p:spPr>
          <a:xfrm>
            <a:off x="6846794" y="22676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Pose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95F9038-50C4-4B59-5BA4-5D8AE3903AC7}"/>
              </a:ext>
            </a:extLst>
          </p:cNvPr>
          <p:cNvSpPr/>
          <p:nvPr/>
        </p:nvSpPr>
        <p:spPr>
          <a:xfrm>
            <a:off x="6846794" y="2784934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Grid_map</a:t>
            </a:r>
            <a:endParaRPr lang="zh-CN" altLang="en-US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4BBB8D-8BB3-DB45-003C-0132DB33A1CF}"/>
              </a:ext>
            </a:extLst>
          </p:cNvPr>
          <p:cNvSpPr txBox="1"/>
          <p:nvPr/>
        </p:nvSpPr>
        <p:spPr>
          <a:xfrm>
            <a:off x="4057649" y="1816575"/>
            <a:ext cx="99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Gazebo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1A8F6A-2FE5-E34C-8F61-42D98B3714B6}"/>
              </a:ext>
            </a:extLst>
          </p:cNvPr>
          <p:cNvSpPr txBox="1"/>
          <p:nvPr/>
        </p:nvSpPr>
        <p:spPr>
          <a:xfrm>
            <a:off x="6946525" y="1816575"/>
            <a:ext cx="99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VIO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C2C109C-D838-3410-CD3B-F9A2D5B38ADE}"/>
              </a:ext>
            </a:extLst>
          </p:cNvPr>
          <p:cNvSpPr/>
          <p:nvPr/>
        </p:nvSpPr>
        <p:spPr>
          <a:xfrm>
            <a:off x="6604747" y="3869727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C3FF1C1-79BD-75E2-30C5-37ED1E8C644F}"/>
              </a:ext>
            </a:extLst>
          </p:cNvPr>
          <p:cNvSpPr/>
          <p:nvPr/>
        </p:nvSpPr>
        <p:spPr>
          <a:xfrm>
            <a:off x="6846794" y="4502093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Pose_cmd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74DBA0-34C3-8858-AB7B-CFF659AD3EF2}"/>
              </a:ext>
            </a:extLst>
          </p:cNvPr>
          <p:cNvSpPr txBox="1"/>
          <p:nvPr/>
        </p:nvSpPr>
        <p:spPr>
          <a:xfrm>
            <a:off x="6770032" y="4001244"/>
            <a:ext cx="134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Traj_server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B9E608A-5B8A-F562-FB8F-90A30D1F6ABC}"/>
              </a:ext>
            </a:extLst>
          </p:cNvPr>
          <p:cNvSpPr/>
          <p:nvPr/>
        </p:nvSpPr>
        <p:spPr>
          <a:xfrm>
            <a:off x="3715871" y="3869727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E9AB860-4B0E-3734-41FA-98E28A74D10F}"/>
              </a:ext>
            </a:extLst>
          </p:cNvPr>
          <p:cNvSpPr/>
          <p:nvPr/>
        </p:nvSpPr>
        <p:spPr>
          <a:xfrm>
            <a:off x="3957918" y="4502093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Rotors_cmd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05C80D-C65E-D9E4-2582-63D1E4360CF4}"/>
              </a:ext>
            </a:extLst>
          </p:cNvPr>
          <p:cNvSpPr txBox="1"/>
          <p:nvPr/>
        </p:nvSpPr>
        <p:spPr>
          <a:xfrm>
            <a:off x="3881156" y="4001244"/>
            <a:ext cx="134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PX4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F5925CC4-E7B3-1AB5-6094-6F81F60F34C8}"/>
              </a:ext>
            </a:extLst>
          </p:cNvPr>
          <p:cNvSpPr/>
          <p:nvPr/>
        </p:nvSpPr>
        <p:spPr>
          <a:xfrm>
            <a:off x="5647764" y="235256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CB08C58-0C5D-6288-085E-D77C230946A8}"/>
              </a:ext>
            </a:extLst>
          </p:cNvPr>
          <p:cNvSpPr/>
          <p:nvPr/>
        </p:nvSpPr>
        <p:spPr>
          <a:xfrm rot="10800000">
            <a:off x="5647764" y="427202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FF323032-006D-3133-C386-7B4613A07DD9}"/>
              </a:ext>
            </a:extLst>
          </p:cNvPr>
          <p:cNvSpPr/>
          <p:nvPr/>
        </p:nvSpPr>
        <p:spPr>
          <a:xfrm rot="5400000">
            <a:off x="7234504" y="3440229"/>
            <a:ext cx="419121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8C70CEF4-5CE1-81CB-CE0D-13A325E64192}"/>
              </a:ext>
            </a:extLst>
          </p:cNvPr>
          <p:cNvSpPr/>
          <p:nvPr/>
        </p:nvSpPr>
        <p:spPr>
          <a:xfrm rot="16200000">
            <a:off x="4345629" y="3422520"/>
            <a:ext cx="419121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图形 43" descr="箭头: 直 纯色填充">
            <a:extLst>
              <a:ext uri="{FF2B5EF4-FFF2-40B4-BE49-F238E27FC236}">
                <a16:creationId xmlns:a16="http://schemas.microsoft.com/office/drawing/2014/main" id="{EFB9CE5E-51C8-4F9D-6A95-C1C15115902D}"/>
              </a:ext>
            </a:extLst>
          </p:cNvPr>
          <p:cNvSpPr/>
          <p:nvPr/>
        </p:nvSpPr>
        <p:spPr>
          <a:xfrm rot="19773202">
            <a:off x="5417308" y="3429824"/>
            <a:ext cx="1164636" cy="258116"/>
          </a:xfrm>
          <a:custGeom>
            <a:avLst/>
            <a:gdLst>
              <a:gd name="connsiteX0" fmla="*/ 228626 w 838226"/>
              <a:gd name="connsiteY0" fmla="*/ 114300 h 457200"/>
              <a:gd name="connsiteX1" fmla="*/ 228626 w 838226"/>
              <a:gd name="connsiteY1" fmla="*/ 0 h 457200"/>
              <a:gd name="connsiteX2" fmla="*/ 26 w 838226"/>
              <a:gd name="connsiteY2" fmla="*/ 228600 h 457200"/>
              <a:gd name="connsiteX3" fmla="*/ 228626 w 838226"/>
              <a:gd name="connsiteY3" fmla="*/ 457200 h 457200"/>
              <a:gd name="connsiteX4" fmla="*/ 228626 w 838226"/>
              <a:gd name="connsiteY4" fmla="*/ 342900 h 457200"/>
              <a:gd name="connsiteX5" fmla="*/ 838226 w 838226"/>
              <a:gd name="connsiteY5" fmla="*/ 228600 h 457200"/>
              <a:gd name="connsiteX6" fmla="*/ 228626 w 838226"/>
              <a:gd name="connsiteY6" fmla="*/ 1143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228626" y="114300"/>
                </a:moveTo>
                <a:lnTo>
                  <a:pt x="228626" y="0"/>
                </a:lnTo>
                <a:lnTo>
                  <a:pt x="26" y="228600"/>
                </a:lnTo>
                <a:cubicBezTo>
                  <a:pt x="-2831" y="228600"/>
                  <a:pt x="228626" y="457200"/>
                  <a:pt x="228626" y="457200"/>
                </a:cubicBezTo>
                <a:lnTo>
                  <a:pt x="228626" y="342900"/>
                </a:lnTo>
                <a:lnTo>
                  <a:pt x="838226" y="228600"/>
                </a:lnTo>
                <a:lnTo>
                  <a:pt x="228626" y="1143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168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AE9B5-87F7-FBB5-BB63-710FD71D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466E815-DC01-18AA-5A65-D822BEB314D5}"/>
              </a:ext>
            </a:extLst>
          </p:cNvPr>
          <p:cNvSpPr/>
          <p:nvPr/>
        </p:nvSpPr>
        <p:spPr>
          <a:xfrm>
            <a:off x="4563015" y="879008"/>
            <a:ext cx="5206273" cy="470824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943004B-8EED-5BD9-7834-6CA082DEAF30}"/>
              </a:ext>
            </a:extLst>
          </p:cNvPr>
          <p:cNvSpPr/>
          <p:nvPr/>
        </p:nvSpPr>
        <p:spPr>
          <a:xfrm>
            <a:off x="7754470" y="2243641"/>
            <a:ext cx="1689846" cy="80598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90350E-E0E1-D011-DF73-084E0FBF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512"/>
            <a:ext cx="4347208" cy="36012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F5FB1E3-0D7C-3C1B-7C02-51869D1C2CC4}"/>
              </a:ext>
            </a:extLst>
          </p:cNvPr>
          <p:cNvSpPr txBox="1"/>
          <p:nvPr/>
        </p:nvSpPr>
        <p:spPr>
          <a:xfrm>
            <a:off x="4764741" y="879008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ROS</a:t>
            </a:r>
            <a:endParaRPr lang="zh-CN" altLang="en-US" sz="2000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DE016C-2593-A815-FFC0-6839CC0B85D8}"/>
              </a:ext>
            </a:extLst>
          </p:cNvPr>
          <p:cNvSpPr/>
          <p:nvPr/>
        </p:nvSpPr>
        <p:spPr>
          <a:xfrm>
            <a:off x="4865594" y="1319964"/>
            <a:ext cx="1689846" cy="1724671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E51537F-843E-5A88-2658-E02C6D89B4A0}"/>
              </a:ext>
            </a:extLst>
          </p:cNvPr>
          <p:cNvSpPr/>
          <p:nvPr/>
        </p:nvSpPr>
        <p:spPr>
          <a:xfrm>
            <a:off x="5113244" y="1955974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Image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C24E58E-6473-D029-93D8-2908FCA8C8DA}"/>
              </a:ext>
            </a:extLst>
          </p:cNvPr>
          <p:cNvSpPr/>
          <p:nvPr/>
        </p:nvSpPr>
        <p:spPr>
          <a:xfrm>
            <a:off x="5113244" y="2473306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IMU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9F3239C-71FE-F7AF-994C-DD1F2657C913}"/>
              </a:ext>
            </a:extLst>
          </p:cNvPr>
          <p:cNvSpPr/>
          <p:nvPr/>
        </p:nvSpPr>
        <p:spPr>
          <a:xfrm>
            <a:off x="7754470" y="1319964"/>
            <a:ext cx="1689846" cy="80598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55DC22-753C-7A09-A58D-5C1577504363}"/>
              </a:ext>
            </a:extLst>
          </p:cNvPr>
          <p:cNvSpPr/>
          <p:nvPr/>
        </p:nvSpPr>
        <p:spPr>
          <a:xfrm>
            <a:off x="7971546" y="1661858"/>
            <a:ext cx="1271305" cy="36040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位姿估计与建图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62CE27-347D-A051-F1A0-01AAAE1324F4}"/>
              </a:ext>
            </a:extLst>
          </p:cNvPr>
          <p:cNvSpPr txBox="1"/>
          <p:nvPr/>
        </p:nvSpPr>
        <p:spPr>
          <a:xfrm>
            <a:off x="5059174" y="1424743"/>
            <a:ext cx="1291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传感器信息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CDA53A-2C26-7FD9-B771-3DBC9C2D0BFC}"/>
              </a:ext>
            </a:extLst>
          </p:cNvPr>
          <p:cNvSpPr txBox="1"/>
          <p:nvPr/>
        </p:nvSpPr>
        <p:spPr>
          <a:xfrm>
            <a:off x="8096246" y="1317814"/>
            <a:ext cx="99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VIO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A1CC4E4-C1EE-B131-71AB-051EBDA7C6B6}"/>
              </a:ext>
            </a:extLst>
          </p:cNvPr>
          <p:cNvSpPr/>
          <p:nvPr/>
        </p:nvSpPr>
        <p:spPr>
          <a:xfrm>
            <a:off x="7754470" y="3780168"/>
            <a:ext cx="1689846" cy="158977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09BE9C-F79B-3F10-008F-9E247AE99665}"/>
              </a:ext>
            </a:extLst>
          </p:cNvPr>
          <p:cNvSpPr/>
          <p:nvPr/>
        </p:nvSpPr>
        <p:spPr>
          <a:xfrm>
            <a:off x="8003222" y="4266064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碰撞检测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959161-06BB-005B-7C97-76D76DBF226A}"/>
              </a:ext>
            </a:extLst>
          </p:cNvPr>
          <p:cNvSpPr txBox="1"/>
          <p:nvPr/>
        </p:nvSpPr>
        <p:spPr>
          <a:xfrm>
            <a:off x="7919755" y="3911685"/>
            <a:ext cx="1348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轨迹规划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C6BFDC4-9A40-45AC-1E2C-62AFD277596B}"/>
              </a:ext>
            </a:extLst>
          </p:cNvPr>
          <p:cNvSpPr/>
          <p:nvPr/>
        </p:nvSpPr>
        <p:spPr>
          <a:xfrm>
            <a:off x="4865594" y="3780168"/>
            <a:ext cx="1689846" cy="158977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AC6DFC6-0D39-9049-12E1-15D073A5AED4}"/>
              </a:ext>
            </a:extLst>
          </p:cNvPr>
          <p:cNvSpPr/>
          <p:nvPr/>
        </p:nvSpPr>
        <p:spPr>
          <a:xfrm>
            <a:off x="5113244" y="4266064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外环控制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FD0184-3443-24C7-917D-430BA97746F9}"/>
              </a:ext>
            </a:extLst>
          </p:cNvPr>
          <p:cNvSpPr txBox="1"/>
          <p:nvPr/>
        </p:nvSpPr>
        <p:spPr>
          <a:xfrm>
            <a:off x="5030879" y="3911685"/>
            <a:ext cx="1348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飞行控制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C17AC1D-6D0E-B917-0CEB-7A4C78D8DB40}"/>
              </a:ext>
            </a:extLst>
          </p:cNvPr>
          <p:cNvSpPr/>
          <p:nvPr/>
        </p:nvSpPr>
        <p:spPr>
          <a:xfrm>
            <a:off x="6775633" y="1564206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D76BD9B0-8FFE-C07E-C64E-8CBAA473F8C8}"/>
              </a:ext>
            </a:extLst>
          </p:cNvPr>
          <p:cNvSpPr/>
          <p:nvPr/>
        </p:nvSpPr>
        <p:spPr>
          <a:xfrm rot="10800000">
            <a:off x="6784594" y="4444210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2AE315AD-D310-899F-3B66-0DDCED58E881}"/>
              </a:ext>
            </a:extLst>
          </p:cNvPr>
          <p:cNvSpPr/>
          <p:nvPr/>
        </p:nvSpPr>
        <p:spPr>
          <a:xfrm rot="16200000">
            <a:off x="5454064" y="3308346"/>
            <a:ext cx="501694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CA115D8B-AD55-AF86-7027-873D389FD10A}"/>
              </a:ext>
            </a:extLst>
          </p:cNvPr>
          <p:cNvSpPr/>
          <p:nvPr/>
        </p:nvSpPr>
        <p:spPr>
          <a:xfrm>
            <a:off x="6784593" y="2558271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BFD8866-7FF3-5D1C-803A-E7C987DD64AE}"/>
              </a:ext>
            </a:extLst>
          </p:cNvPr>
          <p:cNvSpPr/>
          <p:nvPr/>
        </p:nvSpPr>
        <p:spPr>
          <a:xfrm>
            <a:off x="8003222" y="2593665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位姿预测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55BCA4-F466-91AA-9226-C65B9F09357F}"/>
              </a:ext>
            </a:extLst>
          </p:cNvPr>
          <p:cNvSpPr txBox="1"/>
          <p:nvPr/>
        </p:nvSpPr>
        <p:spPr>
          <a:xfrm>
            <a:off x="8102954" y="2299408"/>
            <a:ext cx="995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4DFB56B-E890-6141-CC8B-003B0558F402}"/>
              </a:ext>
            </a:extLst>
          </p:cNvPr>
          <p:cNvSpPr/>
          <p:nvPr/>
        </p:nvSpPr>
        <p:spPr>
          <a:xfrm>
            <a:off x="5113244" y="4705905"/>
            <a:ext cx="1194545" cy="55926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内环</a:t>
            </a:r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PX4</a:t>
            </a:r>
          </a:p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姿态控制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8F07C830-A8CC-4E45-6871-98CCA12ED3BD}"/>
              </a:ext>
            </a:extLst>
          </p:cNvPr>
          <p:cNvSpPr/>
          <p:nvPr/>
        </p:nvSpPr>
        <p:spPr>
          <a:xfrm rot="5400000">
            <a:off x="8351851" y="3306141"/>
            <a:ext cx="497285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9C67765-B930-27DE-C82E-E80BE308E3C2}"/>
              </a:ext>
            </a:extLst>
          </p:cNvPr>
          <p:cNvSpPr/>
          <p:nvPr/>
        </p:nvSpPr>
        <p:spPr>
          <a:xfrm>
            <a:off x="8009927" y="4985536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轨迹优化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AF7D81E-4C20-D8D7-F6A3-4C3C96A5DF9F}"/>
              </a:ext>
            </a:extLst>
          </p:cNvPr>
          <p:cNvSpPr/>
          <p:nvPr/>
        </p:nvSpPr>
        <p:spPr>
          <a:xfrm>
            <a:off x="8009927" y="4625800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路径搜索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57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317CEE-BAC4-E831-9294-4E9F4C37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8" y="1562232"/>
            <a:ext cx="11343519" cy="37335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A4D81BC-02AC-B03C-2D78-3C6E218B7CCF}"/>
              </a:ext>
            </a:extLst>
          </p:cNvPr>
          <p:cNvSpPr txBox="1"/>
          <p:nvPr/>
        </p:nvSpPr>
        <p:spPr>
          <a:xfrm>
            <a:off x="2091017" y="2991970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</a:rPr>
              <a:t>图像普通帧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A75170-3E51-5EDF-4471-67EA58BFFD3A}"/>
              </a:ext>
            </a:extLst>
          </p:cNvPr>
          <p:cNvSpPr txBox="1"/>
          <p:nvPr/>
        </p:nvSpPr>
        <p:spPr>
          <a:xfrm>
            <a:off x="2091017" y="3594847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7030A0"/>
                </a:solidFill>
              </a:rPr>
              <a:t>图像关键帧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3EA463-231E-C613-AD73-30BB4E6F6090}"/>
              </a:ext>
            </a:extLst>
          </p:cNvPr>
          <p:cNvSpPr txBox="1"/>
          <p:nvPr/>
        </p:nvSpPr>
        <p:spPr>
          <a:xfrm>
            <a:off x="564775" y="3594847"/>
            <a:ext cx="1526242" cy="389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B748BC-3F80-7D4D-6027-59537356F49B}"/>
              </a:ext>
            </a:extLst>
          </p:cNvPr>
          <p:cNvSpPr txBox="1"/>
          <p:nvPr/>
        </p:nvSpPr>
        <p:spPr>
          <a:xfrm>
            <a:off x="2037225" y="4692432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2F559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IMU</a:t>
            </a:r>
            <a:r>
              <a:rPr lang="zh-CN" altLang="en-US" sz="2000" dirty="0">
                <a:solidFill>
                  <a:srgbClr val="2F5597"/>
                </a:solidFill>
              </a:rPr>
              <a:t>预积分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176753-89B7-8413-4FB3-3BD53A39687B}"/>
              </a:ext>
            </a:extLst>
          </p:cNvPr>
          <p:cNvSpPr txBox="1"/>
          <p:nvPr/>
        </p:nvSpPr>
        <p:spPr>
          <a:xfrm>
            <a:off x="564775" y="4697505"/>
            <a:ext cx="1526242" cy="389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C58AD1-8DAA-B59E-8DC7-F803239757B2}"/>
              </a:ext>
            </a:extLst>
          </p:cNvPr>
          <p:cNvSpPr txBox="1"/>
          <p:nvPr/>
        </p:nvSpPr>
        <p:spPr>
          <a:xfrm>
            <a:off x="2023782" y="4197724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AD1C2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IMU</a:t>
            </a:r>
            <a:endParaRPr lang="zh-CN" altLang="en-US" sz="2000" dirty="0">
              <a:solidFill>
                <a:srgbClr val="AD1C2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3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25FEFFB-A703-5018-90A1-260B739E6647}"/>
              </a:ext>
            </a:extLst>
          </p:cNvPr>
          <p:cNvSpPr txBox="1"/>
          <p:nvPr/>
        </p:nvSpPr>
        <p:spPr>
          <a:xfrm>
            <a:off x="546287" y="452881"/>
            <a:ext cx="609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RGB Image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角点检测与特征点提取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RANSAC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剔除外点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光流跟踪特征点运动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34FDF3-5B28-8165-A8ED-4D881E9B036D}"/>
              </a:ext>
            </a:extLst>
          </p:cNvPr>
          <p:cNvSpPr/>
          <p:nvPr/>
        </p:nvSpPr>
        <p:spPr>
          <a:xfrm>
            <a:off x="3487270" y="1425388"/>
            <a:ext cx="5058336" cy="362398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39675E-5E9E-DEFF-EE50-529BD09F8B97}"/>
              </a:ext>
            </a:extLst>
          </p:cNvPr>
          <p:cNvSpPr txBox="1"/>
          <p:nvPr/>
        </p:nvSpPr>
        <p:spPr>
          <a:xfrm>
            <a:off x="3487270" y="1507463"/>
            <a:ext cx="1246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视觉前端</a:t>
            </a:r>
            <a:endParaRPr lang="zh-CN" altLang="en-US" sz="1600" b="1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5C96529-6535-2252-4A78-403FF20A9D4B}"/>
              </a:ext>
            </a:extLst>
          </p:cNvPr>
          <p:cNvSpPr/>
          <p:nvPr/>
        </p:nvSpPr>
        <p:spPr>
          <a:xfrm>
            <a:off x="3715871" y="1882588"/>
            <a:ext cx="1689846" cy="124900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486BD40-D23C-A17E-0CC2-92BB8B93988E}"/>
              </a:ext>
            </a:extLst>
          </p:cNvPr>
          <p:cNvSpPr/>
          <p:nvPr/>
        </p:nvSpPr>
        <p:spPr>
          <a:xfrm>
            <a:off x="3957918" y="22676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Left_Image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3CD05E-38DA-7A30-8588-5A7002792367}"/>
              </a:ext>
            </a:extLst>
          </p:cNvPr>
          <p:cNvSpPr/>
          <p:nvPr/>
        </p:nvSpPr>
        <p:spPr>
          <a:xfrm>
            <a:off x="3957918" y="27097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Right_Image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0F25C5C-A927-65A8-8EC7-3FF84589CD10}"/>
              </a:ext>
            </a:extLst>
          </p:cNvPr>
          <p:cNvSpPr/>
          <p:nvPr/>
        </p:nvSpPr>
        <p:spPr>
          <a:xfrm>
            <a:off x="6619313" y="1902921"/>
            <a:ext cx="1689846" cy="119303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46B42B-1BB0-29E5-F8E5-EA177856D013}"/>
              </a:ext>
            </a:extLst>
          </p:cNvPr>
          <p:cNvSpPr/>
          <p:nvPr/>
        </p:nvSpPr>
        <p:spPr>
          <a:xfrm>
            <a:off x="6708119" y="2097105"/>
            <a:ext cx="1508871" cy="86115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Shi-Tomasi </a:t>
            </a:r>
            <a:r>
              <a:rPr lang="zh-CN" altLang="zh-CN" sz="1400" dirty="0">
                <a:latin typeface="Cambria Math" panose="02040503050406030204" pitchFamily="18" charset="0"/>
                <a:ea typeface="宋体" panose="02010600030101010101" pitchFamily="2" charset="-122"/>
              </a:rPr>
              <a:t>角点</a:t>
            </a:r>
            <a:r>
              <a:rPr lang="zh-CN" altLang="en-US" sz="1400" dirty="0">
                <a:latin typeface="Cambria Math" panose="02040503050406030204" pitchFamily="18" charset="0"/>
                <a:ea typeface="宋体" panose="02010600030101010101" pitchFamily="2" charset="-122"/>
              </a:rPr>
              <a:t>检测与特征提取</a:t>
            </a:r>
            <a:endParaRPr lang="zh-CN" altLang="en-US" sz="1050" dirty="0">
              <a:latin typeface="Cambria Math" panose="02040503050406030204" pitchFamily="18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723124-D939-532D-6A66-26678308C9DA}"/>
              </a:ext>
            </a:extLst>
          </p:cNvPr>
          <p:cNvSpPr txBox="1"/>
          <p:nvPr/>
        </p:nvSpPr>
        <p:spPr>
          <a:xfrm>
            <a:off x="4057648" y="1902921"/>
            <a:ext cx="995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双目相机</a:t>
            </a:r>
            <a:endParaRPr lang="zh-CN" altLang="en-US" sz="1400" dirty="0">
              <a:latin typeface="Cambria Math" panose="020405030504060302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9B09643-2323-3298-2ADB-B922FBCC95B3}"/>
              </a:ext>
            </a:extLst>
          </p:cNvPr>
          <p:cNvSpPr/>
          <p:nvPr/>
        </p:nvSpPr>
        <p:spPr>
          <a:xfrm>
            <a:off x="6604746" y="3734002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2B2ABDF-C127-C850-DAFF-DBD5DFD43B67}"/>
              </a:ext>
            </a:extLst>
          </p:cNvPr>
          <p:cNvSpPr/>
          <p:nvPr/>
        </p:nvSpPr>
        <p:spPr>
          <a:xfrm>
            <a:off x="6812894" y="4003126"/>
            <a:ext cx="1299320" cy="563030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RANSAC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剔除外点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D775A01-A9C2-D054-D900-B49E9A2BE999}"/>
              </a:ext>
            </a:extLst>
          </p:cNvPr>
          <p:cNvSpPr/>
          <p:nvPr/>
        </p:nvSpPr>
        <p:spPr>
          <a:xfrm>
            <a:off x="3715870" y="3734002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E6397B1-1D2C-EBE3-FEE9-E99BBDB474BA}"/>
              </a:ext>
            </a:extLst>
          </p:cNvPr>
          <p:cNvSpPr/>
          <p:nvPr/>
        </p:nvSpPr>
        <p:spPr>
          <a:xfrm>
            <a:off x="3957918" y="4003126"/>
            <a:ext cx="1194544" cy="563030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光流跟踪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特征点运动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EAEBA91-FDB4-28EB-DA28-E4BD5A4DC1C7}"/>
              </a:ext>
            </a:extLst>
          </p:cNvPr>
          <p:cNvSpPr/>
          <p:nvPr/>
        </p:nvSpPr>
        <p:spPr>
          <a:xfrm>
            <a:off x="5647764" y="235256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53463D8-BBA2-3A8A-3E51-43A26E2EBAF5}"/>
              </a:ext>
            </a:extLst>
          </p:cNvPr>
          <p:cNvSpPr/>
          <p:nvPr/>
        </p:nvSpPr>
        <p:spPr>
          <a:xfrm rot="10800000">
            <a:off x="5647763" y="4136302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4301B2CB-AC23-643E-7CBD-BD3C643B7A64}"/>
              </a:ext>
            </a:extLst>
          </p:cNvPr>
          <p:cNvSpPr/>
          <p:nvPr/>
        </p:nvSpPr>
        <p:spPr>
          <a:xfrm rot="5400000">
            <a:off x="7240109" y="3310347"/>
            <a:ext cx="419121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7420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I4YWM1MTg2YzUxMmVjMGVhMzM4MGMwZmNkMGMwY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414</Words>
  <Application>Microsoft Office PowerPoint</Application>
  <PresentationFormat>宽屏</PresentationFormat>
  <Paragraphs>89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等线</vt:lpstr>
      <vt:lpstr>黑体</vt:lpstr>
      <vt:lpstr>楷体</vt:lpstr>
      <vt:lpstr>宋体</vt:lpstr>
      <vt:lpstr>微软雅黑</vt:lpstr>
      <vt:lpstr>Arial</vt:lpstr>
      <vt:lpstr>Calibri</vt:lpstr>
      <vt:lpstr>Cambria Math</vt:lpstr>
      <vt:lpstr>Century Gothic</vt:lpstr>
      <vt:lpstr>Segoe UI Semilight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天舒 王</cp:lastModifiedBy>
  <cp:revision>725</cp:revision>
  <dcterms:created xsi:type="dcterms:W3CDTF">2015-04-07T16:28:00Z</dcterms:created>
  <dcterms:modified xsi:type="dcterms:W3CDTF">2025-07-27T09:30:05Z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5C209C5E710C47DA8D39BEDC830B808E_13</vt:lpwstr>
  </property>
</Properties>
</file>